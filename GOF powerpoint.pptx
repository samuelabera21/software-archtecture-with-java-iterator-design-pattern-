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9" r:id="rId10"/>
    <p:sldId id="270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D894-E717-4A8E-81C8-AB60A9C9724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72A3-BAA8-46A2-82E1-FBA068991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562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D894-E717-4A8E-81C8-AB60A9C9724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9DD072A3-BAA8-46A2-82E1-FBA068991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041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D894-E717-4A8E-81C8-AB60A9C9724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72A3-BAA8-46A2-82E1-FBA068991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76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D894-E717-4A8E-81C8-AB60A9C9724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72A3-BAA8-46A2-82E1-FBA068991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65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D894-E717-4A8E-81C8-AB60A9C9724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72A3-BAA8-46A2-82E1-FBA068991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662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D894-E717-4A8E-81C8-AB60A9C9724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72A3-BAA8-46A2-82E1-FBA068991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584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D894-E717-4A8E-81C8-AB60A9C9724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72A3-BAA8-46A2-82E1-FBA068991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571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D894-E717-4A8E-81C8-AB60A9C9724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72A3-BAA8-46A2-82E1-FBA068991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098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D894-E717-4A8E-81C8-AB60A9C9724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72A3-BAA8-46A2-82E1-FBA068991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056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D894-E717-4A8E-81C8-AB60A9C9724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72A3-BAA8-46A2-82E1-FBA068991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457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D894-E717-4A8E-81C8-AB60A9C9724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72A3-BAA8-46A2-82E1-FBA068991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813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D894-E717-4A8E-81C8-AB60A9C9724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72A3-BAA8-46A2-82E1-FBA068991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213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D894-E717-4A8E-81C8-AB60A9C9724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72A3-BAA8-46A2-82E1-FBA068991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2329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D894-E717-4A8E-81C8-AB60A9C9724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72A3-BAA8-46A2-82E1-FBA068991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473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D894-E717-4A8E-81C8-AB60A9C9724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72A3-BAA8-46A2-82E1-FBA068991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9698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D894-E717-4A8E-81C8-AB60A9C9724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72A3-BAA8-46A2-82E1-FBA068991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000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D894-E717-4A8E-81C8-AB60A9C9724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72A3-BAA8-46A2-82E1-FBA068991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559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D78D894-E717-4A8E-81C8-AB60A9C9724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DD072A3-BAA8-46A2-82E1-FBA068991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996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C27EB-1876-71C9-8CA7-E630CED1C5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78354"/>
            <a:ext cx="9144000" cy="1021846"/>
          </a:xfrm>
        </p:spPr>
        <p:txBody>
          <a:bodyPr>
            <a:noAutofit/>
          </a:bodyPr>
          <a:lstStyle/>
          <a:p>
            <a:pPr algn="just"/>
            <a:r>
              <a:rPr lang="en-US" sz="4400" dirty="0"/>
              <a:t>      Iterator Design Pattern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DC9ECF-B700-FA16-5AE4-1852E565D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64466"/>
            <a:ext cx="9144000" cy="3093335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Behavioral Design Pattern</a:t>
            </a:r>
            <a:br>
              <a:rPr lang="en-US" dirty="0"/>
            </a:br>
            <a:r>
              <a:rPr lang="en-US" dirty="0"/>
              <a:t>Based on </a:t>
            </a:r>
            <a:r>
              <a:rPr lang="en-US" i="1" dirty="0"/>
              <a:t>Design Patterns – Erich Gamma, Richard Helm, Ralph Johnson, John </a:t>
            </a:r>
            <a:r>
              <a:rPr lang="en-US" i="1" dirty="0" err="1"/>
              <a:t>Vlissides</a:t>
            </a:r>
            <a:endParaRPr lang="en-US" dirty="0"/>
          </a:p>
          <a:p>
            <a:r>
              <a:rPr lang="en-US" dirty="0"/>
              <a:t>Prepared by: Samuel Abera </a:t>
            </a:r>
            <a:r>
              <a:rPr lang="en-US" dirty="0" err="1"/>
              <a:t>Mekonn</a:t>
            </a:r>
            <a:br>
              <a:rPr lang="en-US" dirty="0"/>
            </a:br>
            <a:r>
              <a:rPr lang="en-US" dirty="0"/>
              <a:t>Course: Software Architecture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335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1E4B3-69AA-F094-28BA-718E21007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Iterator Design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E6975-5759-1A4C-2E85-F4DB07698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9424" y="2438399"/>
            <a:ext cx="10018713" cy="42633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Intent:</a:t>
            </a:r>
          </a:p>
          <a:p>
            <a:pPr marL="0" indent="0">
              <a:buNone/>
            </a:pPr>
            <a:r>
              <a:rPr lang="en-US" dirty="0"/>
              <a:t>Provide a way to access the elements of an aggregate object sequentially without exposing its underlying representation.   </a:t>
            </a:r>
          </a:p>
          <a:p>
            <a:pPr marL="0" indent="0">
              <a:buNone/>
            </a:pPr>
            <a:r>
              <a:rPr lang="en-US" dirty="0"/>
              <a:t>Design Patterns (</a:t>
            </a:r>
            <a:r>
              <a:rPr lang="en-US" dirty="0" err="1"/>
              <a:t>GoF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r>
              <a:rPr lang="en-US" sz="2800" dirty="0"/>
              <a:t>✔ Access elements without exposing structure</a:t>
            </a:r>
            <a:br>
              <a:rPr lang="en-US" sz="2800" dirty="0"/>
            </a:br>
            <a:r>
              <a:rPr lang="en-US" sz="2800" dirty="0"/>
              <a:t>✔ Provide a uniform traversal interface</a:t>
            </a:r>
            <a:br>
              <a:rPr lang="en-US" sz="2800" dirty="0"/>
            </a:br>
            <a:r>
              <a:rPr lang="en-US" sz="2800" dirty="0"/>
              <a:t>✔ Separate traversal from collection</a:t>
            </a:r>
          </a:p>
          <a:p>
            <a:pPr marL="0" indent="0">
              <a:buNone/>
            </a:pPr>
            <a:r>
              <a:rPr lang="en-US" dirty="0"/>
              <a:t>               </a:t>
            </a:r>
          </a:p>
          <a:p>
            <a:pPr marL="0" indent="0">
              <a:buNone/>
            </a:pPr>
            <a:r>
              <a:rPr lang="en-US" dirty="0"/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972783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701DE-BBD2-0FB3-C396-392E33665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8EA57-9F75-FB7B-0F4D-132E177D9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369" y="222813"/>
            <a:ext cx="10018713" cy="865208"/>
          </a:xfrm>
        </p:spPr>
        <p:txBody>
          <a:bodyPr/>
          <a:lstStyle/>
          <a:p>
            <a:r>
              <a:rPr lang="en-US" dirty="0"/>
              <a:t>            Iterator Design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D75E1-01D6-A051-0CE1-82D530509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51950"/>
            <a:ext cx="10018713" cy="4572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800" dirty="0"/>
              <a:t>Motivation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3800" dirty="0"/>
              <a:t>In complex systems (e.g., document editors):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3800" dirty="0"/>
              <a:t>Need to traverse document structure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3800" dirty="0"/>
              <a:t>Support multiple traversal algorithms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3800" dirty="0"/>
              <a:t>Avoid tight coupling between algorithms and structure</a:t>
            </a:r>
          </a:p>
          <a:p>
            <a:pPr marL="0" indent="0">
              <a:buNone/>
            </a:pPr>
            <a:r>
              <a:rPr lang="en-US" sz="3800" dirty="0"/>
              <a:t>Solution</a:t>
            </a:r>
            <a:r>
              <a:rPr lang="en-US" sz="3800" b="1" dirty="0"/>
              <a:t>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3800" dirty="0"/>
              <a:t>Encapsulate traversal behavior inside an Iterator object.</a:t>
            </a:r>
          </a:p>
          <a:p>
            <a:pPr marL="0" indent="0">
              <a:buNone/>
            </a:pPr>
            <a:r>
              <a:rPr lang="en-US" dirty="0"/>
              <a:t>               </a:t>
            </a:r>
          </a:p>
          <a:p>
            <a:pPr marL="0" indent="0">
              <a:buNone/>
            </a:pPr>
            <a:r>
              <a:rPr lang="en-US" dirty="0"/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154329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B7155-1F51-F193-3520-0B1A269D8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50704-0B8A-4E67-1AB7-268CFE6CC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Iterator Design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0D322-242A-3ED8-02B0-3FE66A8E3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0447" y="2152891"/>
            <a:ext cx="10018713" cy="45835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Definition</a:t>
            </a:r>
          </a:p>
          <a:p>
            <a:pPr marL="0" indent="0">
              <a:buNone/>
            </a:pPr>
            <a:r>
              <a:rPr lang="en-US" sz="2800" dirty="0"/>
              <a:t>The Iterator Pattern: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Provides sequential access to elements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Hides internal representation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Allows multiple traversal strategies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Lets collection and traversal vary independently</a:t>
            </a:r>
          </a:p>
          <a:p>
            <a:pPr marL="0" indent="0">
              <a:buNone/>
            </a:pPr>
            <a:r>
              <a:rPr lang="en-US" dirty="0"/>
              <a:t>It is classified as a </a:t>
            </a:r>
            <a:r>
              <a:rPr lang="en-US" b="1" dirty="0"/>
              <a:t>Behavioral Pattern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               </a:t>
            </a:r>
          </a:p>
          <a:p>
            <a:pPr marL="0" indent="0">
              <a:buNone/>
            </a:pPr>
            <a:r>
              <a:rPr lang="en-US" dirty="0"/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314377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69078-2CCF-3667-DF45-C9E34EE0D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1D2EC-A821-6145-87D5-61C42D649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Iterator Design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1FFDC-EE0F-D7C1-1C0F-53D72EB61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Use Iterator When: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You need multiple ways to traverse a collection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You want a uniform interface for different data structures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You want to hide the internal representation of a container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Traversal logic should not be part of the collection class</a:t>
            </a:r>
          </a:p>
          <a:p>
            <a:pPr marL="0" indent="0">
              <a:buNone/>
            </a:pPr>
            <a:r>
              <a:rPr lang="en-US" dirty="0"/>
              <a:t>               </a:t>
            </a:r>
          </a:p>
          <a:p>
            <a:pPr marL="0" indent="0">
              <a:buNone/>
            </a:pPr>
            <a:r>
              <a:rPr lang="en-US" dirty="0"/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45275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F488A-BAB8-72D0-9A56-30CF049D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9E243-4060-3664-F0D5-2AD3B3BB1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149752"/>
          </a:xfrm>
        </p:spPr>
        <p:txBody>
          <a:bodyPr/>
          <a:lstStyle/>
          <a:p>
            <a:r>
              <a:rPr lang="en-US" dirty="0"/>
              <a:t>                    Structure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4B30431-74C8-2A0A-F720-9A5768604D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0049397"/>
              </p:ext>
            </p:extLst>
          </p:nvPr>
        </p:nvGraphicFramePr>
        <p:xfrm>
          <a:off x="1557338" y="1643604"/>
          <a:ext cx="9906000" cy="4394028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1526737978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3295744695"/>
                    </a:ext>
                  </a:extLst>
                </a:gridCol>
              </a:tblGrid>
              <a:tr h="570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Participant</a:t>
                      </a:r>
                    </a:p>
                  </a:txBody>
                  <a:tcPr marL="90411" marR="90411" marT="45206" marB="452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Role in the System</a:t>
                      </a:r>
                    </a:p>
                  </a:txBody>
                  <a:tcPr marL="90411" marR="90411" marT="45206" marB="452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965240"/>
                  </a:ext>
                </a:extLst>
              </a:tr>
              <a:tr h="10003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Iterator</a:t>
                      </a:r>
                      <a:endParaRPr lang="en-US" sz="2400"/>
                    </a:p>
                  </a:txBody>
                  <a:tcPr marL="90411" marR="90411" marT="45206" marB="452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Defines traversal methods </a:t>
                      </a:r>
                      <a:r>
                        <a:rPr lang="en-US" sz="2400">
                          <a:latin typeface="Courier New" panose="02070309020205020404" pitchFamily="49" charset="0"/>
                        </a:rPr>
                        <a:t>hasNext()</a:t>
                      </a:r>
                      <a:r>
                        <a:rPr lang="en-US" sz="2400"/>
                        <a:t> and </a:t>
                      </a:r>
                      <a:r>
                        <a:rPr lang="en-US" sz="2400">
                          <a:latin typeface="Courier New" panose="02070309020205020404" pitchFamily="49" charset="0"/>
                        </a:rPr>
                        <a:t>next()</a:t>
                      </a:r>
                      <a:endParaRPr lang="en-US" sz="2400"/>
                    </a:p>
                  </a:txBody>
                  <a:tcPr marL="90411" marR="90411" marT="45206" marB="452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1181546"/>
                  </a:ext>
                </a:extLst>
              </a:tr>
              <a:tr h="10003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NameIterator</a:t>
                      </a:r>
                      <a:endParaRPr lang="en-US" sz="2400"/>
                    </a:p>
                  </a:txBody>
                  <a:tcPr marL="90411" marR="90411" marT="45206" marB="452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Implements the Iterator and performs traversal of names</a:t>
                      </a:r>
                    </a:p>
                  </a:txBody>
                  <a:tcPr marL="90411" marR="90411" marT="45206" marB="452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4979300"/>
                  </a:ext>
                </a:extLst>
              </a:tr>
              <a:tr h="6873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Container</a:t>
                      </a:r>
                      <a:endParaRPr lang="en-US" sz="2400"/>
                    </a:p>
                  </a:txBody>
                  <a:tcPr marL="90411" marR="90411" marT="45206" marB="452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Interface that declares </a:t>
                      </a:r>
                      <a:r>
                        <a:rPr lang="en-US" sz="2400">
                          <a:latin typeface="Courier New" panose="02070309020205020404" pitchFamily="49" charset="0"/>
                        </a:rPr>
                        <a:t>getIterator()</a:t>
                      </a:r>
                      <a:endParaRPr lang="en-US" sz="2400"/>
                    </a:p>
                  </a:txBody>
                  <a:tcPr marL="90411" marR="90411" marT="45206" marB="452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81718"/>
                  </a:ext>
                </a:extLst>
              </a:tr>
              <a:tr h="10003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NameRepository</a:t>
                      </a:r>
                      <a:endParaRPr lang="en-US" sz="2400"/>
                    </a:p>
                  </a:txBody>
                  <a:tcPr marL="90411" marR="90411" marT="45206" marB="452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Stores the collection of names and creates the iterator</a:t>
                      </a:r>
                    </a:p>
                  </a:txBody>
                  <a:tcPr marL="90411" marR="90411" marT="45206" marB="452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912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0580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8EABE-1AAA-4F4D-13B1-F55CB2DCC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4411D-4045-DE6C-FCAE-A8B200079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621" y="354957"/>
            <a:ext cx="9905998" cy="911943"/>
          </a:xfrm>
        </p:spPr>
        <p:txBody>
          <a:bodyPr/>
          <a:lstStyle/>
          <a:p>
            <a:r>
              <a:rPr lang="en-US" dirty="0"/>
              <a:t>                Java Built-in Iterator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B727F4-9396-FACB-9028-D58222EDAF10}"/>
              </a:ext>
            </a:extLst>
          </p:cNvPr>
          <p:cNvSpPr txBox="1"/>
          <p:nvPr/>
        </p:nvSpPr>
        <p:spPr>
          <a:xfrm>
            <a:off x="3507128" y="4314876"/>
            <a:ext cx="60940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All Java collections provide:</a:t>
            </a:r>
          </a:p>
          <a:p>
            <a:r>
              <a:rPr lang="en-US" sz="2400" dirty="0">
                <a:solidFill>
                  <a:srgbClr val="0070C0"/>
                </a:solidFill>
              </a:rPr>
              <a:t>Iterator&lt;E&gt; iterator();</a:t>
            </a:r>
          </a:p>
          <a:p>
            <a:r>
              <a:rPr lang="en-US" sz="2400" dirty="0"/>
              <a:t>Examples:</a:t>
            </a:r>
          </a:p>
          <a:p>
            <a:r>
              <a:rPr lang="en-US" sz="2400" dirty="0" err="1"/>
              <a:t>ArrayList</a:t>
            </a:r>
            <a:endParaRPr lang="en-US" sz="2400" dirty="0"/>
          </a:p>
          <a:p>
            <a:r>
              <a:rPr lang="en-US" sz="2400" dirty="0"/>
              <a:t>HashSet</a:t>
            </a:r>
          </a:p>
          <a:p>
            <a:r>
              <a:rPr lang="en-US" sz="2400" dirty="0"/>
              <a:t>HashMap (</a:t>
            </a:r>
            <a:r>
              <a:rPr lang="en-US" sz="2400" dirty="0" err="1"/>
              <a:t>keySet</a:t>
            </a:r>
            <a:r>
              <a:rPr lang="en-US" sz="2400" dirty="0"/>
              <a:t>().iterator())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B6D66C1-53DE-542E-5820-05C059BF86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3976" y="1374663"/>
            <a:ext cx="6337280" cy="280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782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A5C9C-9E60-BEE3-C70D-A14DD2255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62047"/>
            <a:ext cx="10018713" cy="960698"/>
          </a:xfrm>
        </p:spPr>
        <p:txBody>
          <a:bodyPr/>
          <a:lstStyle/>
          <a:p>
            <a:r>
              <a:rPr lang="en-US" dirty="0"/>
              <a:t> Real-World Example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944053B-5B45-8D85-A118-10D7491276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547" y="1250067"/>
            <a:ext cx="9826906" cy="500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707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B9849-B823-9C3C-8305-955B71633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2817" y="0"/>
            <a:ext cx="10018713" cy="717630"/>
          </a:xfrm>
        </p:spPr>
        <p:txBody>
          <a:bodyPr>
            <a:normAutofit/>
          </a:bodyPr>
          <a:lstStyle/>
          <a:p>
            <a:r>
              <a:rPr lang="en-US" dirty="0"/>
              <a:t>Without Iterator (Bad Design)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035E3-605E-8396-B864-2375BBFA1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902825"/>
            <a:ext cx="10018713" cy="5532699"/>
          </a:xfrm>
        </p:spPr>
        <p:txBody>
          <a:bodyPr>
            <a:normAutofit/>
          </a:bodyPr>
          <a:lstStyle/>
          <a:p>
            <a:r>
              <a:rPr lang="en-US" dirty="0"/>
              <a:t>If try to access songs directly: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for(int </a:t>
            </a:r>
            <a:r>
              <a:rPr lang="en-US" b="1" dirty="0" err="1">
                <a:solidFill>
                  <a:srgbClr val="00B0F0"/>
                </a:solidFill>
              </a:rPr>
              <a:t>i</a:t>
            </a:r>
            <a:r>
              <a:rPr lang="en-US" b="1" dirty="0">
                <a:solidFill>
                  <a:srgbClr val="00B0F0"/>
                </a:solidFill>
              </a:rPr>
              <a:t> = 0; </a:t>
            </a:r>
            <a:r>
              <a:rPr lang="en-US" b="1" dirty="0" err="1">
                <a:solidFill>
                  <a:srgbClr val="00B0F0"/>
                </a:solidFill>
              </a:rPr>
              <a:t>i</a:t>
            </a:r>
            <a:r>
              <a:rPr lang="en-US" b="1" dirty="0">
                <a:solidFill>
                  <a:srgbClr val="00B0F0"/>
                </a:solidFill>
              </a:rPr>
              <a:t> &lt; </a:t>
            </a:r>
            <a:r>
              <a:rPr lang="en-US" b="1" dirty="0" err="1">
                <a:solidFill>
                  <a:srgbClr val="00B0F0"/>
                </a:solidFill>
              </a:rPr>
              <a:t>playlist.size</a:t>
            </a:r>
            <a:r>
              <a:rPr lang="en-US" b="1" dirty="0">
                <a:solidFill>
                  <a:srgbClr val="00B0F0"/>
                </a:solidFill>
              </a:rPr>
              <a:t>(); </a:t>
            </a:r>
            <a:r>
              <a:rPr lang="en-US" b="1" dirty="0" err="1">
                <a:solidFill>
                  <a:srgbClr val="00B0F0"/>
                </a:solidFill>
              </a:rPr>
              <a:t>i</a:t>
            </a:r>
            <a:r>
              <a:rPr lang="en-US" b="1" dirty="0">
                <a:solidFill>
                  <a:srgbClr val="00B0F0"/>
                </a:solidFill>
              </a:rPr>
              <a:t>++){</a:t>
            </a:r>
            <a:br>
              <a:rPr lang="en-US" b="1" dirty="0">
                <a:solidFill>
                  <a:srgbClr val="00B0F0"/>
                </a:solidFill>
              </a:rPr>
            </a:br>
            <a:r>
              <a:rPr lang="en-US" b="1" dirty="0">
                <a:solidFill>
                  <a:srgbClr val="00B0F0"/>
                </a:solidFill>
              </a:rPr>
              <a:t>    play(</a:t>
            </a:r>
            <a:r>
              <a:rPr lang="en-US" b="1" dirty="0" err="1">
                <a:solidFill>
                  <a:srgbClr val="00B0F0"/>
                </a:solidFill>
              </a:rPr>
              <a:t>playlist.get</a:t>
            </a:r>
            <a:r>
              <a:rPr lang="en-US" b="1" dirty="0">
                <a:solidFill>
                  <a:srgbClr val="00B0F0"/>
                </a:solidFill>
              </a:rPr>
              <a:t>(</a:t>
            </a:r>
            <a:r>
              <a:rPr lang="en-US" b="1" dirty="0" err="1">
                <a:solidFill>
                  <a:srgbClr val="00B0F0"/>
                </a:solidFill>
              </a:rPr>
              <a:t>i</a:t>
            </a:r>
            <a:r>
              <a:rPr lang="en-US" b="1" dirty="0">
                <a:solidFill>
                  <a:srgbClr val="00B0F0"/>
                </a:solidFill>
              </a:rPr>
              <a:t>));</a:t>
            </a:r>
            <a:br>
              <a:rPr lang="en-US" b="1" dirty="0">
                <a:solidFill>
                  <a:srgbClr val="00B0F0"/>
                </a:solidFill>
              </a:rPr>
            </a:br>
            <a:r>
              <a:rPr lang="en-US" b="1" dirty="0">
                <a:solidFill>
                  <a:srgbClr val="00B0F0"/>
                </a:solidFill>
              </a:rPr>
              <a:t>}</a:t>
            </a:r>
          </a:p>
          <a:p>
            <a:r>
              <a:rPr lang="en-US" dirty="0"/>
              <a:t>This assumes the playlist is: </a:t>
            </a:r>
            <a:r>
              <a:rPr lang="en-US" dirty="0" err="1"/>
              <a:t>ArrayList</a:t>
            </a:r>
            <a:endParaRPr lang="en-US" dirty="0"/>
          </a:p>
          <a:p>
            <a:r>
              <a:rPr lang="en-US" dirty="0"/>
              <a:t>But if songs come from a </a:t>
            </a:r>
            <a:r>
              <a:rPr lang="en-US" b="1" dirty="0"/>
              <a:t>streaming API</a:t>
            </a:r>
            <a:r>
              <a:rPr lang="en-US" dirty="0"/>
              <a:t>, there may be: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400" dirty="0"/>
              <a:t>no size()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400" dirty="0"/>
              <a:t>no get(</a:t>
            </a:r>
            <a:r>
              <a:rPr lang="en-US" sz="2400" dirty="0" err="1"/>
              <a:t>i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dirty="0"/>
              <a:t>Result:</a:t>
            </a:r>
          </a:p>
          <a:p>
            <a:pPr marL="0" indent="0">
              <a:buNone/>
            </a:pPr>
            <a:r>
              <a:rPr lang="en-US" dirty="0"/>
              <a:t>   ❌ The player code becomes tightly coupled to the data structure</a:t>
            </a:r>
            <a:br>
              <a:rPr lang="en-US" dirty="0"/>
            </a:br>
            <a:r>
              <a:rPr lang="en-US" dirty="0"/>
              <a:t>   ❌ Changing the source breaks the program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404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F28E3-2AF0-05A2-C909-13A04B69E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564" y="164940"/>
            <a:ext cx="10018713" cy="795759"/>
          </a:xfrm>
        </p:spPr>
        <p:txBody>
          <a:bodyPr/>
          <a:lstStyle/>
          <a:p>
            <a:r>
              <a:rPr lang="en-US" dirty="0"/>
              <a:t>With Iterator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9C8DD-C329-F551-19DF-55A980AEE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960699"/>
            <a:ext cx="10018713" cy="55442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Using the </a:t>
            </a:r>
            <a:r>
              <a:rPr lang="en-US" b="1" dirty="0"/>
              <a:t>Iterator Pattern</a:t>
            </a:r>
            <a:r>
              <a:rPr lang="en-US" dirty="0"/>
              <a:t>, the player accesses songs like this: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Iterator </a:t>
            </a:r>
            <a:r>
              <a:rPr lang="en-US" b="1" dirty="0" err="1">
                <a:solidFill>
                  <a:srgbClr val="00B0F0"/>
                </a:solidFill>
              </a:rPr>
              <a:t>songIterator</a:t>
            </a:r>
            <a:r>
              <a:rPr lang="en-US" b="1" dirty="0">
                <a:solidFill>
                  <a:srgbClr val="00B0F0"/>
                </a:solidFill>
              </a:rPr>
              <a:t> = </a:t>
            </a:r>
            <a:r>
              <a:rPr lang="en-US" b="1" dirty="0" err="1">
                <a:solidFill>
                  <a:srgbClr val="00B0F0"/>
                </a:solidFill>
              </a:rPr>
              <a:t>playlist.getIterator</a:t>
            </a:r>
            <a:r>
              <a:rPr lang="en-US" b="1" dirty="0">
                <a:solidFill>
                  <a:srgbClr val="00B0F0"/>
                </a:solidFill>
              </a:rPr>
              <a:t>();</a:t>
            </a:r>
            <a:br>
              <a:rPr lang="en-US" b="1" dirty="0">
                <a:solidFill>
                  <a:srgbClr val="00B0F0"/>
                </a:solidFill>
              </a:rPr>
            </a:br>
            <a:r>
              <a:rPr lang="en-US" b="1" dirty="0">
                <a:solidFill>
                  <a:srgbClr val="00B0F0"/>
                </a:solidFill>
              </a:rPr>
              <a:t>while(</a:t>
            </a:r>
            <a:r>
              <a:rPr lang="en-US" b="1" dirty="0" err="1">
                <a:solidFill>
                  <a:srgbClr val="00B0F0"/>
                </a:solidFill>
              </a:rPr>
              <a:t>songIterator.hasNext</a:t>
            </a:r>
            <a:r>
              <a:rPr lang="en-US" b="1" dirty="0">
                <a:solidFill>
                  <a:srgbClr val="00B0F0"/>
                </a:solidFill>
              </a:rPr>
              <a:t>()){</a:t>
            </a:r>
            <a:br>
              <a:rPr lang="en-US" b="1" dirty="0">
                <a:solidFill>
                  <a:srgbClr val="00B0F0"/>
                </a:solidFill>
              </a:rPr>
            </a:br>
            <a:r>
              <a:rPr lang="en-US" b="1" dirty="0">
                <a:solidFill>
                  <a:srgbClr val="00B0F0"/>
                </a:solidFill>
              </a:rPr>
              <a:t>    Song </a:t>
            </a:r>
            <a:r>
              <a:rPr lang="en-US" b="1" dirty="0" err="1">
                <a:solidFill>
                  <a:srgbClr val="00B0F0"/>
                </a:solidFill>
              </a:rPr>
              <a:t>song</a:t>
            </a:r>
            <a:r>
              <a:rPr lang="en-US" b="1" dirty="0">
                <a:solidFill>
                  <a:srgbClr val="00B0F0"/>
                </a:solidFill>
              </a:rPr>
              <a:t> = </a:t>
            </a:r>
            <a:r>
              <a:rPr lang="en-US" b="1" dirty="0" err="1">
                <a:solidFill>
                  <a:srgbClr val="00B0F0"/>
                </a:solidFill>
              </a:rPr>
              <a:t>songIterator.next</a:t>
            </a:r>
            <a:r>
              <a:rPr lang="en-US" b="1" dirty="0">
                <a:solidFill>
                  <a:srgbClr val="00B0F0"/>
                </a:solidFill>
              </a:rPr>
              <a:t>();</a:t>
            </a:r>
            <a:br>
              <a:rPr lang="en-US" b="1" dirty="0">
                <a:solidFill>
                  <a:srgbClr val="00B0F0"/>
                </a:solidFill>
              </a:rPr>
            </a:br>
            <a:r>
              <a:rPr lang="en-US" b="1" dirty="0">
                <a:solidFill>
                  <a:srgbClr val="00B0F0"/>
                </a:solidFill>
              </a:rPr>
              <a:t>    play(song);</a:t>
            </a:r>
            <a:br>
              <a:rPr lang="en-US" b="1" dirty="0">
                <a:solidFill>
                  <a:srgbClr val="00B0F0"/>
                </a:solidFill>
              </a:rPr>
            </a:br>
            <a:r>
              <a:rPr lang="en-US" b="1" dirty="0">
                <a:solidFill>
                  <a:srgbClr val="00B0F0"/>
                </a:solidFill>
              </a:rPr>
              <a:t>}</a:t>
            </a:r>
          </a:p>
          <a:p>
            <a:pPr marL="0" indent="0">
              <a:buNone/>
            </a:pPr>
            <a:r>
              <a:rPr lang="en-US" dirty="0"/>
              <a:t>Now the player only knows two methods: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dirty="0" err="1"/>
              <a:t>hasNext</a:t>
            </a:r>
            <a:r>
              <a:rPr lang="en-US" sz="2400" dirty="0"/>
              <a:t>()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dirty="0"/>
              <a:t>next()</a:t>
            </a:r>
          </a:p>
          <a:p>
            <a:r>
              <a:rPr lang="en-US" dirty="0"/>
              <a:t>It </a:t>
            </a:r>
            <a:r>
              <a:rPr lang="en-US" b="1" dirty="0"/>
              <a:t>does not care how the songs are stored internally</a:t>
            </a:r>
            <a:r>
              <a:rPr lang="en-US" dirty="0"/>
              <a:t>.</a:t>
            </a:r>
          </a:p>
          <a:p>
            <a:r>
              <a:rPr lang="en-US" dirty="0"/>
              <a:t>This separates the </a:t>
            </a:r>
            <a:r>
              <a:rPr lang="en-US" b="1" dirty="0"/>
              <a:t>playback logic from the data structure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537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69259-2A94-E3E1-E447-C95821141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A03BE-85A5-2D6E-ED0E-64E061FCA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Consequences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62DAA31-3D9F-3F73-2DCC-13471A157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268639"/>
            <a:ext cx="10018713" cy="427105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900" dirty="0"/>
              <a:t>Advantages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Encapsulation of internal structure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Multiple traversal algorithms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Clean separation of concerns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Supports concurrent iteration</a:t>
            </a:r>
          </a:p>
          <a:p>
            <a:pPr marL="0" indent="0">
              <a:buNone/>
            </a:pPr>
            <a:r>
              <a:rPr lang="en-US" sz="2900" dirty="0"/>
              <a:t>Disadvantages</a:t>
            </a:r>
          </a:p>
          <a:p>
            <a:pPr marL="457200" lvl="1" indent="0">
              <a:buNone/>
            </a:pPr>
            <a:r>
              <a:rPr lang="en-US" sz="2800" dirty="0"/>
              <a:t>✖ Adds additional classes</a:t>
            </a:r>
            <a:br>
              <a:rPr lang="en-US" sz="2800" dirty="0"/>
            </a:br>
            <a:r>
              <a:rPr lang="en-US" sz="2800" dirty="0"/>
              <a:t>✖ Slight increase in system complexity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2850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75FEB-80A2-75C0-B843-38ECA34C8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29C83-B97B-913C-2D63-ACD4B0C6A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590" y="257537"/>
            <a:ext cx="10018713" cy="1061977"/>
          </a:xfrm>
        </p:spPr>
        <p:txBody>
          <a:bodyPr/>
          <a:lstStyle/>
          <a:p>
            <a:r>
              <a:rPr lang="en-US" dirty="0"/>
              <a:t>                  Real-World Usage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264EB18-3AD5-CA88-C2AB-AF3418A4A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280213"/>
            <a:ext cx="10018713" cy="389198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Iterator Pattern is widely used in: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Java Collections Framework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Database result set processing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File system traversal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Tree and graph traversal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Streaming APIs</a:t>
            </a:r>
          </a:p>
          <a:p>
            <a:pPr marL="0" indent="0">
              <a:buNone/>
            </a:pPr>
            <a:r>
              <a:rPr lang="en-US" dirty="0"/>
              <a:t>It is a fundamental pattern in modern software systems.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004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49EFD-8FAA-DB17-B5CB-ADE3718A7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58716-F94E-D56C-28EE-90808C031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Conclusion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8A8EC5-C899-F329-469A-44FFF7825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291787"/>
            <a:ext cx="10018713" cy="40395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Iterator Pattern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dirty="0"/>
              <a:t>Behavioral design pattern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dirty="0"/>
              <a:t> Separates traversal from collection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dirty="0"/>
              <a:t> Provides flexibility and extensibility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dirty="0"/>
              <a:t> Widely implemented in Java and </a:t>
            </a:r>
            <a:r>
              <a:rPr lang="en-US" sz="2400" dirty="0" err="1"/>
              <a:t>.Net</a:t>
            </a:r>
            <a:endParaRPr lang="en-US" sz="2400" dirty="0"/>
          </a:p>
          <a:p>
            <a:pPr marL="0" indent="0">
              <a:buNone/>
            </a:pPr>
            <a:r>
              <a:rPr lang="en-US" dirty="0"/>
              <a:t>The Iterator pattern demonstrates how object-oriented design promotes modularity and maintainability.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957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D112A-4DB9-192C-B793-4758764D8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76A6-4D33-15E9-DBD8-4859D50F6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Conclusion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DBBBBAE-6C29-3CC3-6634-843FA2AAA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164467"/>
            <a:ext cx="9905998" cy="3148313"/>
          </a:xfrm>
        </p:spPr>
        <p:txBody>
          <a:bodyPr>
            <a:normAutofit/>
          </a:bodyPr>
          <a:lstStyle/>
          <a:p>
            <a:pPr marL="3200400" lvl="7" indent="0">
              <a:buNone/>
            </a:pPr>
            <a:r>
              <a:rPr lang="en-US" sz="4400" dirty="0"/>
              <a:t>10Q</a:t>
            </a:r>
          </a:p>
        </p:txBody>
      </p:sp>
    </p:spTree>
    <p:extLst>
      <p:ext uri="{BB962C8B-B14F-4D97-AF65-F5344CB8AC3E}">
        <p14:creationId xmlns:p14="http://schemas.microsoft.com/office/powerpoint/2010/main" val="39309317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331</TotalTime>
  <Words>558</Words>
  <Application>Microsoft Office PowerPoint</Application>
  <PresentationFormat>Widescreen</PresentationFormat>
  <Paragraphs>101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Corbel</vt:lpstr>
      <vt:lpstr>Courier New</vt:lpstr>
      <vt:lpstr>Wingdings</vt:lpstr>
      <vt:lpstr>Parallax</vt:lpstr>
      <vt:lpstr>      Iterator Design Pattern</vt:lpstr>
      <vt:lpstr>            Iterator Design Pattern</vt:lpstr>
      <vt:lpstr>            Iterator Design Pattern</vt:lpstr>
      <vt:lpstr>            Iterator Design Pattern</vt:lpstr>
      <vt:lpstr>            Iterator Design Pattern</vt:lpstr>
      <vt:lpstr>                    Structure</vt:lpstr>
      <vt:lpstr>                Java Built-in Iterator</vt:lpstr>
      <vt:lpstr> Real-World Example</vt:lpstr>
      <vt:lpstr>Without Iterator (Bad Design)</vt:lpstr>
      <vt:lpstr>With Iterator Pattern</vt:lpstr>
      <vt:lpstr>                  Consequences</vt:lpstr>
      <vt:lpstr>                  Real-World Usage</vt:lpstr>
      <vt:lpstr>                      Conclusion</vt:lpstr>
      <vt:lpstr>                     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Abera</dc:creator>
  <cp:lastModifiedBy>Samuel Abera</cp:lastModifiedBy>
  <cp:revision>3</cp:revision>
  <dcterms:created xsi:type="dcterms:W3CDTF">2026-03-02T13:27:46Z</dcterms:created>
  <dcterms:modified xsi:type="dcterms:W3CDTF">2026-03-10T20:34:49Z</dcterms:modified>
</cp:coreProperties>
</file>